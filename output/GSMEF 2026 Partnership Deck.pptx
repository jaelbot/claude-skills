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Hosted by SME Finance Forum (managed by IFC)  |  Organised by GFTN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FFFFFF"/>
                </a:solidFill>
                <a:latin typeface="Calibri"/>
              </a:rPr>
              <a:t>14-16  |  </a:t>
            </a:r>
            <a:r>
              <a:rPr sz="3600" b="1">
                <a:solidFill>
                  <a:srgbClr val="7DC242"/>
                </a:solidFill>
                <a:latin typeface="Calibri"/>
              </a:rPr>
              <a:t>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SEPT  |  SME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2026  |  FORUM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2377440" cy="34747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7DC242"/>
                </a:solidFill>
                <a:latin typeface="Calibri"/>
              </a:rPr>
              <a:t>  WASHINGTON DC, USA  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37560"/>
            <a:ext cx="502920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Transforming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Access into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10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DC242"/>
                </a:solidFill>
                <a:latin typeface="Calibri"/>
              </a:rPr>
              <a:t>14 – 16 September 2026  |  Washington DC, USA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3200400"/>
            <a:ext cx="2011680" cy="2011680"/>
          </a:xfrm>
          <a:prstGeom prst="ellipse">
            <a:avLst/>
          </a:prstGeom>
          <a:solidFill>
            <a:srgbClr val="7DC242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49840" y="3200400"/>
            <a:ext cx="2011680" cy="2011680"/>
          </a:xfrm>
          <a:prstGeom prst="ellipse">
            <a:avLst/>
          </a:prstGeom>
          <a:solidFill>
            <a:srgbClr val="00B4D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46920" y="4023360"/>
            <a:ext cx="2011680" cy="2011680"/>
          </a:xfrm>
          <a:prstGeom prst="ellipse">
            <a:avLst/>
          </a:prstGeom>
          <a:solidFill>
            <a:srgbClr val="7DC24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4663440"/>
            <a:ext cx="1371600" cy="1371600"/>
          </a:xfrm>
          <a:prstGeom prst="ellipse">
            <a:avLst/>
          </a:prstGeom>
          <a:solidFill>
            <a:srgbClr val="00B4D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0" y="4480560"/>
            <a:ext cx="1371600" cy="1371600"/>
          </a:xfrm>
          <a:prstGeom prst="ellipse">
            <a:avLst/>
          </a:prstGeom>
          <a:solidFill>
            <a:srgbClr val="7DC24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Partnership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DC242"/>
                </a:solidFill>
                <a:latin typeface="Calibri"/>
              </a:rPr>
              <a:t>The 12th Global SME Finance Forum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12th Edition  |  Washington, D.C., USA  |  14–16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051560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world's SME finance gap has grown to $5.7 trillion. Closing it requires more than capital — but a system.
The 12th Global SME Finance Forum brings together the policymakers, financiers, fintechs and innovators who are building that system to advance SME financing and catalyse knowledge and digital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37560"/>
            <a:ext cx="10515600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•  Hosted by SME Finance Forum, managed by International Finance Corporation (IFC)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959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•  Organised by GFTN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714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•  Builds on a decade-plus track record of convening the world's leading SME finance practitioners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Where the World's Development Agenda Gets Set.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47472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7DC242"/>
                </a:solidFill>
                <a:latin typeface="Calibri"/>
              </a:rPr>
              <a:t>1,000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29260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Senior Decision-Makers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8224" y="1325880"/>
            <a:ext cx="347472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1600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7DC242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2926080"/>
            <a:ext cx="29260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3108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Continents — D.C. follows
Johannesburg (2025) and
São Paulo (2024)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1325880"/>
            <a:ext cx="347472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6002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DC242"/>
                </a:solidFill>
                <a:latin typeface="Calibri"/>
              </a:rPr>
              <a:t>World Bank Group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926080"/>
            <a:ext cx="29260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3108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Main Complex — Forum 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The 2026 Forum builds on the success of the 2025 Johannesburg edition, an official side event of the South Africa G20 Presidency.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DC242"/>
                </a:solidFill>
                <a:latin typeface="Calibri"/>
              </a:rPr>
              <a:t>The Largest Network of SME Finance Innovators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4754880" cy="2926080"/>
          </a:xfrm>
          <a:prstGeom prst="rect">
            <a:avLst/>
          </a:prstGeom>
          <a:solidFill>
            <a:srgbClr val="0A20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“Having become a global center of knowledge excellence, SME Finance Forum is now transitioning towards solution building innovation hub for financial services industry to scale finance, create livelihoods and achieve impact.”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330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— Qamar Saleem, Head, SME Finance Forum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005840"/>
            <a:ext cx="2926080" cy="960120"/>
          </a:xfrm>
          <a:prstGeom prst="rect">
            <a:avLst/>
          </a:prstGeom>
          <a:solidFill>
            <a:srgbClr val="0A2020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02412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DC242"/>
                </a:solidFill>
                <a:latin typeface="Calibri"/>
              </a:rPr>
              <a:t>300+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727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SME Finance Stakeholders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005840"/>
            <a:ext cx="2926080" cy="960120"/>
          </a:xfrm>
          <a:prstGeom prst="rect">
            <a:avLst/>
          </a:prstGeom>
          <a:solidFill>
            <a:srgbClr val="0A2020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02412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DC242"/>
                </a:solidFill>
                <a:latin typeface="Calibri"/>
              </a:rPr>
              <a:t>33M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5727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MSMEs serviced globally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194560"/>
            <a:ext cx="2926080" cy="960120"/>
          </a:xfrm>
          <a:prstGeom prst="rect">
            <a:avLst/>
          </a:prstGeom>
          <a:solidFill>
            <a:srgbClr val="0A2020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21284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DC242"/>
                </a:solidFill>
                <a:latin typeface="Calibri"/>
              </a:rPr>
              <a:t>US$140B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61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Finance enabled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194560"/>
            <a:ext cx="2926080" cy="960120"/>
          </a:xfrm>
          <a:prstGeom prst="rect">
            <a:avLst/>
          </a:prstGeom>
          <a:solidFill>
            <a:srgbClr val="0A2020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21284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DC242"/>
                </a:solidFill>
                <a:latin typeface="Calibri"/>
              </a:rPr>
              <a:t>US$7.9T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761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Assets under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383280"/>
            <a:ext cx="2926080" cy="960120"/>
          </a:xfrm>
          <a:prstGeom prst="rect">
            <a:avLst/>
          </a:prstGeom>
          <a:solidFill>
            <a:srgbClr val="0A2020"/>
          </a:solidFill>
          <a:ln w="1270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4015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DC242"/>
                </a:solidFill>
                <a:latin typeface="Calibri"/>
              </a:rPr>
              <a:t>190+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950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Countries covered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Created by IFC  |  Managed by SME Finance Forum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2026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Transforming Access into Impact: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DC242"/>
                </a:solidFill>
                <a:latin typeface="Calibri"/>
              </a:rPr>
              <a:t>Market, Capital,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84831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 action-oriented programme equipping market stakeholders with the knowledge, tools and innovations to scale MSME finance — structured around the three layers every SME needs to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6928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7DC242"/>
          </a:solidFill>
          <a:ln w="19050">
            <a:solidFill>
              <a:srgbClr val="7D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A0A0A"/>
                </a:solidFill>
                <a:latin typeface="Calibri"/>
              </a:rPr>
              <a:t>  Market Layer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66928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A0A0A"/>
                </a:solidFill>
                <a:latin typeface="Calibri"/>
              </a:rPr>
              <a:t>  Capital Layer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5669280"/>
            <a:ext cx="3200400" cy="47548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  Technology Layer  </a:t>
            </a:r>
          </a:p>
        </p:txBody>
      </p:sp>
      <p:sp>
        <p:nvSpPr>
          <p:cNvPr id="10" name="Oval 9"/>
          <p:cNvSpPr/>
          <p:nvPr/>
        </p:nvSpPr>
        <p:spPr>
          <a:xfrm>
            <a:off x="9601200" y="2743200"/>
            <a:ext cx="3200400" cy="3200400"/>
          </a:xfrm>
          <a:prstGeom prst="ellipse">
            <a:avLst/>
          </a:prstGeom>
          <a:solidFill>
            <a:srgbClr val="7DC24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0" y="3474720"/>
            <a:ext cx="2560320" cy="2560320"/>
          </a:xfrm>
          <a:prstGeom prst="ellipse">
            <a:avLst/>
          </a:prstGeom>
          <a:solidFill>
            <a:srgbClr val="00B4D8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Programme Topics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3657600" cy="38404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338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MARKET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657600" cy="5029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576" cy="16459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7276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Cross-Border Trade Rails and digital commerce for SMEs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36576" cy="16459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Embedded finance within digital platforms and marketplaces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9816"/>
            <a:ext cx="36576" cy="16459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072384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Financing agriculture value chains and smallholder ecosystems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9624"/>
            <a:ext cx="36576" cy="16459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822192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Interoperability, standards, and digital trade corridors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99432"/>
            <a:ext cx="36576" cy="16459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5720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Cross-Border Payments: The role of stablecoins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49240"/>
            <a:ext cx="36576" cy="16459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32180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Insurance and Risk Management for SMEs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078992"/>
            <a:ext cx="36576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1338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CAPITAL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463040"/>
            <a:ext cx="3657600" cy="5029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1600200"/>
            <a:ext cx="36576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57276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Blended finance structures to mobilise institutional capital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2350008"/>
            <a:ext cx="36576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2322576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Climate and transition finance for SME resilience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099816"/>
            <a:ext cx="36576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072384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Tokenized assets and digital capital markets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61688" y="3849624"/>
            <a:ext cx="36576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3822192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Risk-sharing mechanisms tailored to SME financing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9016" y="1078992"/>
            <a:ext cx="3657600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11338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TECHNOLOGY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9016" y="1463040"/>
            <a:ext cx="3657600" cy="5029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0456" y="1600200"/>
            <a:ext cx="36576" cy="1645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4" y="1572768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AI and alternative data in SME credit 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2350008"/>
            <a:ext cx="36576" cy="1645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322576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Digital public infrastructure and financial inclusion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3099816"/>
            <a:ext cx="36576" cy="1645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4" y="3072384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Energy access and productive use for SME growth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0456" y="3849624"/>
            <a:ext cx="36576" cy="1645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3822192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Talent development and digital capability building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0456" y="4599432"/>
            <a:ext cx="36576" cy="1645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0184" y="45720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The role of non-bank lenders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Who Attends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Based on 2024 Global SME Finance Forum, São Paulo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C242"/>
                </a:solidFill>
                <a:latin typeface="Calibri"/>
              </a:rPr>
              <a:t>Attendee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1109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929383"/>
            <a:ext cx="822960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1109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7802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DFIs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496311"/>
            <a:ext cx="521208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478023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4495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Fintech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063239"/>
            <a:ext cx="466344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6976" y="3044951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Others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630167"/>
            <a:ext cx="356616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36118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788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NBFIs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197095"/>
            <a:ext cx="329184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6" y="41788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4573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Government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4764023"/>
            <a:ext cx="246888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74573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C242"/>
                </a:solidFill>
                <a:latin typeface="Calibri"/>
              </a:rPr>
              <a:t>Geographic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1109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East Asia &amp; Pacific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929383"/>
            <a:ext cx="1177747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2019" y="191109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46%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7802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Sub-Saharan Africa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496311"/>
            <a:ext cx="409651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3923" y="2478023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4495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Americas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063239"/>
            <a:ext cx="281635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15907" y="3044951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6118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South Asia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630167"/>
            <a:ext cx="256032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36118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7880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Europe &amp; Central Asia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197095"/>
            <a:ext cx="230428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64700" y="4178807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4573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764023"/>
            <a:ext cx="204825" cy="27432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9097" y="474573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53328" y="1325880"/>
            <a:ext cx="1905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2024 Featured Speakers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(2026 speakers to be announced)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36192"/>
            <a:ext cx="2148840" cy="41148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536192"/>
            <a:ext cx="2148840" cy="5486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" y="1764792"/>
            <a:ext cx="914400" cy="9144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AAAA"/>
                </a:solidFill>
                <a:latin typeface="Calibri"/>
              </a:rPr>
              <a:t>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" y="2798064"/>
            <a:ext cx="187452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90779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C242"/>
                </a:solidFill>
                <a:latin typeface="Calibri"/>
              </a:rPr>
              <a:t>Vijay Shekhar Sharma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21023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Founder &amp;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43984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  <a:latin typeface="Calibri"/>
              </a:rPr>
              <a:t>Paytm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34056" y="1536192"/>
            <a:ext cx="2148840" cy="41148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4056" y="1536192"/>
            <a:ext cx="2148840" cy="5486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28416" y="1764792"/>
            <a:ext cx="914400" cy="9144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AAAA"/>
                </a:solidFill>
                <a:latin typeface="Calibri"/>
              </a:rPr>
              <a:t>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2798064"/>
            <a:ext cx="187452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25496" y="290779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C242"/>
                </a:solidFill>
                <a:latin typeface="Calibri"/>
              </a:rPr>
              <a:t>Stella Tembisa
Ndabeni-Abrahams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3621023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Minister of Small Business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4443984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  <a:latin typeface="Calibri"/>
              </a:rPr>
              <a:t>Republic of South Africa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4064" y="1536192"/>
            <a:ext cx="2148840" cy="41148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536192"/>
            <a:ext cx="2148840" cy="5486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78424" y="1764792"/>
            <a:ext cx="914400" cy="9144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432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AAAA"/>
                </a:solidFill>
                <a:latin typeface="Calibri"/>
              </a:rPr>
              <a:t>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1224" y="2798064"/>
            <a:ext cx="187452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290779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C242"/>
                </a:solidFill>
                <a:latin typeface="Calibri"/>
              </a:rPr>
              <a:t>Márcio Luiz França Gomes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621023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Minister of Entrepreneurship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4443984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  <a:latin typeface="Calibri"/>
              </a:rPr>
              <a:t>Brazil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34072" y="1536192"/>
            <a:ext cx="2148840" cy="41148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34072" y="1536192"/>
            <a:ext cx="2148840" cy="5486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28432" y="1764792"/>
            <a:ext cx="914400" cy="9144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AAAA"/>
                </a:solidFill>
                <a:latin typeface="Calibri"/>
              </a:rPr>
              <a:t>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71232" y="2798064"/>
            <a:ext cx="187452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290779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C242"/>
                </a:solidFill>
                <a:latin typeface="Calibri"/>
              </a:rPr>
              <a:t>Myriam Etile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3621023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Global Head of SMB Insights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4443984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  <a:latin typeface="Calibri"/>
              </a:rPr>
              <a:t>Visa Commercial Solutions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1536192"/>
            <a:ext cx="2148840" cy="41148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84080" y="1536192"/>
            <a:ext cx="2148840" cy="5486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78440" y="1764792"/>
            <a:ext cx="914400" cy="9144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2448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AAAA"/>
                </a:solidFill>
                <a:latin typeface="Calibri"/>
              </a:rPr>
              <a:t>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2798064"/>
            <a:ext cx="187452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2907792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C242"/>
                </a:solidFill>
                <a:latin typeface="Calibri"/>
              </a:rPr>
              <a:t>Paolo Sironi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621023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IBM Global Research Leader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443984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4D8"/>
                </a:solidFill>
                <a:latin typeface="Calibri"/>
              </a:rPr>
              <a:t>Banking and Financial Markets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You Can Expect During the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DC242"/>
                </a:solidFill>
                <a:latin typeface="Calibri"/>
              </a:rPr>
              <a:t>World Bank Group Main Complex, Washington D.C.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2697480" cy="46634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26974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544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SUN 13 SEP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2231136"/>
            <a:ext cx="54864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39696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VIP Dinner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2889504"/>
            <a:ext cx="54864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798064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(By Invite 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481328"/>
            <a:ext cx="2697480" cy="46634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481328"/>
            <a:ext cx="2697480" cy="47548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5544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MON 14 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4136" y="2231136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139696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Learning Day: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2889504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798064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Members' Workshops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3547872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3456432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Trainings &amp;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4136" y="4206240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4114800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Innovation Showcases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481328"/>
            <a:ext cx="2697480" cy="46634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481328"/>
            <a:ext cx="2697480" cy="47548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15544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TUE 15 SEP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2231136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139696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Public-Private Dialogues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2889504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798064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Strategic Tracks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3547872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456432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Innovation Showcases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4206240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114800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SME Voices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4864608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773168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Industry Networking Event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5128" y="1481328"/>
            <a:ext cx="2697480" cy="46634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25128" y="1481328"/>
            <a:ext cx="2697480" cy="47548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8" y="15544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WED 16 SEP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34856" y="2231136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2139696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Public-Private Dialogues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34856" y="2889504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2798064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Strategic Tracks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34856" y="3547872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62872" y="3456432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SME Finance Forum Awards Ceremony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34856" y="4206240"/>
            <a:ext cx="54864" cy="10972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4114800"/>
            <a:ext cx="2368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Networking Drinks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Partnership Options (USD)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Contact Madhuri.Dhanani@gftn.com for pricing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292608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Benefit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1481328"/>
            <a:ext cx="182880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7276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DC242"/>
                </a:solidFill>
                <a:latin typeface="Calibri"/>
              </a:rPr>
              <a:t>Platinum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1481328"/>
            <a:ext cx="1828800" cy="457200"/>
          </a:xfrm>
          <a:prstGeom prst="rect">
            <a:avLst/>
          </a:prstGeom>
          <a:solidFill>
            <a:srgbClr val="143014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57276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DC242"/>
                </a:solidFill>
                <a:latin typeface="Calibri"/>
              </a:rPr>
              <a:t>Gold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4888" y="1481328"/>
            <a:ext cx="1828800" cy="457200"/>
          </a:xfrm>
          <a:prstGeom prst="rect">
            <a:avLst/>
          </a:prstGeom>
          <a:solidFill>
            <a:srgbClr val="10281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57276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DC242"/>
                </a:solidFill>
                <a:latin typeface="Calibri"/>
              </a:rPr>
              <a:t>Silver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9408" y="1481328"/>
            <a:ext cx="1828800" cy="457200"/>
          </a:xfrm>
          <a:prstGeom prst="rect">
            <a:avLst/>
          </a:prstGeom>
          <a:solidFill>
            <a:srgbClr val="0E220E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57276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DC242"/>
                </a:solidFill>
                <a:latin typeface="Calibri"/>
              </a:rPr>
              <a:t>Bronze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965960"/>
            <a:ext cx="292608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Speaking Opportunity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1965960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0574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0368" y="1965960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0574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1965960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574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9408" y="1965960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0574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2450592"/>
            <a:ext cx="292608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542032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Boardroom Discussion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5848" y="2450592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54203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2450592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54203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4888" y="2450592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254203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2450592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54203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935224"/>
            <a:ext cx="292608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026664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Workshop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2935224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02666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30368" y="2935224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302666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4888" y="2935224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302666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9408" y="2935224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02666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3419856"/>
            <a:ext cx="292608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511296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Branding (stage/screens)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5848" y="3419856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0" y="3511296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30368" y="3419856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3511296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4888" y="3419856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3511296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79408" y="3419856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3511296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" y="3904488"/>
            <a:ext cx="292608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9959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App Listing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55848" y="3904488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29000" y="39959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30368" y="3904488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39959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4888" y="3904488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78040" y="39959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79408" y="3904488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399592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" y="4389120"/>
            <a:ext cx="292608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48056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Delegate Passes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55848" y="4389120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448056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30368" y="4389120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0" y="448056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4888" y="4389120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78040" y="448056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79408" y="4389120"/>
            <a:ext cx="1828800" cy="457200"/>
          </a:xfrm>
          <a:prstGeom prst="rect">
            <a:avLst/>
          </a:prstGeom>
          <a:solidFill>
            <a:srgbClr val="0D2626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52560" y="448056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" y="4873752"/>
            <a:ext cx="292608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965192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Knowledge Report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55848" y="4873752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29000" y="496519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30368" y="4873752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0" y="496519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C242"/>
                </a:solidFill>
                <a:latin typeface="Calibri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4888" y="4873752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78040" y="496519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79408" y="4873752"/>
            <a:ext cx="1828800" cy="457200"/>
          </a:xfrm>
          <a:prstGeom prst="rect">
            <a:avLst/>
          </a:prstGeom>
          <a:solidFill>
            <a:srgbClr val="0A2020"/>
          </a:solidFill>
          <a:ln w="6350">
            <a:solidFill>
              <a:srgbClr val="1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2560" y="4965192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You Should Be There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11183112" cy="157276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234440"/>
            <a:ext cx="73152" cy="157276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356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7DC242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356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Shape the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84248"/>
            <a:ext cx="9509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Co-curate sessions with policymakers and DFIs on the topics that matter most to your business.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008376"/>
            <a:ext cx="11183112" cy="157276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3008376"/>
            <a:ext cx="73152" cy="157276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209544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7DC242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2095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Connect at the 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758184"/>
            <a:ext cx="9509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Meet 1,000 senior decision-makers including CEOs, CROs, ministers and fund managers who move capital into SME markets.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782312"/>
            <a:ext cx="11183112" cy="157276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782312"/>
            <a:ext cx="73152" cy="1572768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983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7DC242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983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 a Systems 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532120"/>
            <a:ext cx="9509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Align your brand with the Growth Stack framework and position your organisation as part of the solution to the $5.7T financing gap.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Boardroom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Host a 90-minute roundtable on a topic of your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Closed-door, by-invitation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90 mins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10 pax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Curated with GSMEF content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ATTENDEES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By invitation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Dedicated report on 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416552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448970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" y="4764024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1888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Workshops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Host a 30-minute workshop on a topic of your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Listed on official agenda, open to all attendees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30 mins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100 pax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LEAD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Attendee list provided (name, designation, company)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Approved by GSMEF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Breakfast / Lunch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Host a 60-minute briefing at a private and exclusive setting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Private, unlisted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60 mins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10 pax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Curated with GSMEF content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ATTENDEES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By invitation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Dedicated report on 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416552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448970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" y="4764024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1888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1, exclusive per location per day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Breakfast Reception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Position your brand at the centre of the networking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Welcome remarks from your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BRANDING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Across all screens in networking area (highest traffic)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LISTING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on event app and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COLLATERAL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Branded tent cards on alternate networking tables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2, exclusivity per day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Lunch Reception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Position your brand at the centre of the networking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Welcome remarks from your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BRANDING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Across all screens in networking 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LISTING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on event app and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COLLATERAL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 branded tent card on alternate networking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2, exclusivity per day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Tea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Position your brand at the centre of the networking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Welcome remarks from your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BRANDING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On screens through networking 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LISTING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on event app and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COLLATERAL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 branded tent card on alternate networking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2, exclusivity per day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Registration 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Associate your brand with key touchpoints across the attendee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on the online registration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ONSITE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Branding on onsite registration desks where all attendees register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Lanyards 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Associate your brand with key touchpoints across the attendee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on ticket confirmation and event e-ticket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LANYARDS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on lanyards worn by all attendees throughout the event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Event App &amp; Meetings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Released 1 week before the event for all participants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within the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MARKETING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on pre-event marketing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EARLY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Early access to the attendees list via the 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Lounge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VIP space for speakers to gather during the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Branding of the registration desk at the entrance of the Speakers Lounge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VIP LOUNGE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Branding of the VIP lounge experience including collaterals across tables and coffee area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Forum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Sponsor the Forum Stage and associate your brand with key themes and speakers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VIDEO 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Branded video ad played twice on Forum Stage (30 secs)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PROGRAMME LISTING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as Forum Stage sponsor for the relevant day within the online programme and event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LOGO PLACEMENT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at the start on relevant day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Knowledge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Associate your brand across key themes at multiple touchpoints before, during and after the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THOUGHT LEADERSHIP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as Knowledge Report sponsor on the 10-page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Strategic distribution to GFTN and SME Finance Forum's network pre-event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EDM TARGETING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Targeted EDMs to attendees and on the website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RESEARCH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Option to integrate proprietary research, case studies or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SPONSORSHIP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USD 15,000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3 spots per report, 3 reports total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Insights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Our Gen AI engine distils a decade-plus of proprietary insights and public information to provide actionable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BRAND ASSOCIATION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 association with GSMEF's proprietary AI insights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VISIBILITY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Visibility across all AI-generated outputs distributed to attendees and members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Knowledge Reports – Key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Topics across the three Knowledge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611880" cy="438912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91056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Market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2258568"/>
            <a:ext cx="54864" cy="14630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48840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Cross-Border Trade Rails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2880360"/>
            <a:ext cx="54864" cy="14630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770632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Embedded Finance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3502152"/>
            <a:ext cx="54864" cy="146304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392424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Agriculture Value Chains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7096" y="1508760"/>
            <a:ext cx="361188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591056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Capital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2258568"/>
            <a:ext cx="54864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Blended Finance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2880360"/>
            <a:ext cx="54864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770632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Climate Finance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3502152"/>
            <a:ext cx="54864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392424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Tokenized Assets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6824" y="4123944"/>
            <a:ext cx="54864" cy="1463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14216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Risk-Sharing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0144" y="1508760"/>
            <a:ext cx="3611880" cy="43891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1591056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Technology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2258568"/>
            <a:ext cx="54864" cy="1463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148840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AI in Credit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2880360"/>
            <a:ext cx="54864" cy="1463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2770632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Digital Public 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3502152"/>
            <a:ext cx="54864" cy="1463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392424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Energy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9872" y="4123944"/>
            <a:ext cx="54864" cy="1463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4014216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Talent Development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FutureMatters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Host a thought leadership session alongside the movers and shakers of financial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CONTENT PREPARATION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Content preparation with the GFTN content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AGENDA LISTING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Co-curate a session listed on the official agenda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LOGO PLACEMENT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Logo/brand placement at the start and end of each session on the relevant day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GSMEFF Dinner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The perfect opportunity for senior public and private sector leaders to network before the main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5568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ACTIVATION INCLUDES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Welcome remarks from your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BRAND MENTION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56232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Brand association in key mentions of the GSMEFF dinner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COLLATERAL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on collaterals within the dinner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78024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511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INVITATION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825496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Logo placement on formal invitation to attendees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5349240" cy="804672"/>
          </a:xfrm>
          <a:prstGeom prst="rect">
            <a:avLst/>
          </a:prstGeom>
          <a:solidFill>
            <a:srgbClr val="0A2020"/>
          </a:solidFill>
          <a:ln w="6350">
            <a:solidFill>
              <a:srgbClr val="1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5204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# OF 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794760"/>
            <a:ext cx="5129784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849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914400"/>
            <a:ext cx="4114800" cy="4114800"/>
          </a:xfrm>
          <a:prstGeom prst="ellipse">
            <a:avLst/>
          </a:prstGeom>
          <a:solidFill>
            <a:srgbClr val="7DC242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286000"/>
            <a:ext cx="3200400" cy="3200400"/>
          </a:xfrm>
          <a:prstGeom prst="ellipse">
            <a:avLst/>
          </a:prstGeom>
          <a:solidFill>
            <a:srgbClr val="00B4D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Join us in Washington, D.C.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7DC242"/>
                </a:solidFill>
                <a:latin typeface="Calibri"/>
              </a:rPr>
              <a:t>September 14–16,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Secure your place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27248"/>
            <a:ext cx="6400800" cy="1905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3337560"/>
            <a:ext cx="502920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3337560"/>
            <a:ext cx="73152" cy="1371600"/>
          </a:xfrm>
          <a:prstGeom prst="rect">
            <a:avLst/>
          </a:prstGeom>
          <a:solidFill>
            <a:srgbClr val="7D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93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Madhuri Dhanani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Madhuri.Dhanani@gftn.com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093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globalsmefinanceforum.com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309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Hosted by SME Finance Forum (IFC)  |  Organised by GFTN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